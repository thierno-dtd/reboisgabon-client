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45 s. Je me présente, puis le sujet : ReboisGabon, une application de pilotage des programmes de reboisement au Gabon. Architecture imposée en trois niveaux : un client JavaFX, une API Django REST Framework, une base de données relationnelle. Ce que vous voyez à droite est le tableau de bord réel de l'application.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Le contexte du sujet : face à la déforestation localisée, plusieurs programmes de reboisement sont menés au Gabon. La vraie question n'est pas combien on plante mais combien survit. D'où le défi technique du sujet : le calcul automatique du taux de survie moyen par site. Les chiffres à droite viennent du jeu de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Je montre que chaque ligne de la grille est couverte. Les pourcentages sont ceux de la grille d'évaluation. Je précise que l'inscription publique est volontairement absente : tous les comptes sont créés par l'administrateur.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 30. Trois projets séparés en pratique : le client JavaFX, l'API Django. Le client n'a aucun pilote JDBC, il ne parle qu'en HTTP/JSON. Toute la logique métier est côté API : authentification, permissions, filtres, calculs. La base cible est PostgreSQL ; en développement on tourne sur SQLite, et on bascule en changeant le bloc DATABASES dans settings.py, sans toucher au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 30. Les trois entités du sujet et leurs relations un-à-plusieurs. Le défi : le taux moyen par site agrège tous les suivis de toutes les campagnes du site, en une requête AVG via l'ORM. Il est recalculé à chaque lecture, donc toujours à jour après un nouveau contrôle. Autour, des entités ajoutées pour rendre l'outil exploitable : essences, objectifs, finances,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 30. Le parcours complet. Point important à signaler : pendant les tests j'ai découvert que les ViewSets redéclaraient permission_classes, ce qui neutralisait la matrice des rôles. C'est corrigé et couvert par des tests : un agent ne peut ni créer ni supprimer un site, ni voir les finances.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En démo live : je clique une province sur la mini-carte, ce qui ouvre la carte du territoire centrée dessus. J'exporte le rapport de synthèse PDF depuis le bandeau.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 30. Leaflet embarqué dans une WebView, les données viennent de l'API (GeoJSON). Le pont JavaScript → Java ouvre la fiche native à droite. Les coordonnées de démonstration ont été recalées sur les vraies localités, et un test vérifie que chaque site tombe bien dans sa province.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 30. Démo : je filtre les campagnes d'un site, d'une essence, sur une période, avec une survie minimale. Puis je crée un suivi et je montre que le taux moyen du site a changé sur la carte.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Fonctionnalités au-delà du cahier des charges. L'herbier présente chaque essence comme une planche botanique avec ses résultats réels. Le simulateur donne une estimation statistique, à valider sur le terrain : je le dis clairement.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45 s. Les exports ne sont plus dans un menu séparé : on exporte là où l'on regarde les données. Le journal d'audit est réservé à l'administrateur.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En démo : je me déconnecte, je me reconnecte en agent, les menus Finances et Administration ont disparu. Même si on appelait l'API directement, elle répondrait 403.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J'assume les défauts trouvés : c'est la preuve que les tests servent. Chaque correction est couverte par un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 + démo live (4 à 5 min). Suivre le déroulé du guide GUIDE-DE-TEST.md, section « Démonstration de soutenance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3444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ReboisGabon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7373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Piloter le reboisement du Gabon, de la mise en terre à la canopée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JavaFX · API Django REST Framework · PostgreSQL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434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4D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n°7 — Reforestation &amp; environnement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4D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DOUTHE Thierno David · INGC2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4D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 : ABOH ABOH Yannick Thierry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4D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Africain d'Informatique · 2025-2026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44184" y="1197864"/>
            <a:ext cx="5742432" cy="35041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C:\Users\DELL LATITUDE 7530\Documents\iai-gabon\ING2\JavaFx\frontendauthfx\docs\soutenance\captures\tableau-de-bo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234440"/>
            <a:ext cx="5669280" cy="34309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: planter ne suffit pas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programmes de reboisement se mesurent à ce qui survit, pas à ce qui est mis en terre.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190780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764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plante-t-on ?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1488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sites répartis sur les 9 provinces, suivis dans des tableurs dispersés.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314224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999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survit ?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3832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survie n'est connu qu'après des contrôles de terrain, rarement consolidés.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4376684"/>
            <a:ext cx="317480" cy="317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4233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finance quoi ?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617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État, bailleurs internationaux, ONG et entreprises demandent des rapports fiables.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0" y="173736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F5136"/>
          </a:solidFill>
          <a:ln w="12700">
            <a:solidFill>
              <a:srgbClr val="1F513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76656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286 076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676656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mis en terre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23544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79,2 %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92354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survie moyenne mesurée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76656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676656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dans 8 provinces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923544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563</a:t>
            </a:r>
            <a:endParaRPr lang="en-US" sz="3600" dirty="0"/>
          </a:p>
        </p:txBody>
      </p:sp>
      <p:sp>
        <p:nvSpPr>
          <p:cNvPr id="24" name="Text 19"/>
          <p:cNvSpPr txBox="1"/>
          <p:nvPr/>
        </p:nvSpPr>
        <p:spPr>
          <a:xfrm>
            <a:off x="923544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de terrain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766560" y="5349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7E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données de démonstration généré par l'API (seed_data)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cahier des charges, couvert point par point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d'évaluation commune aux 23 sujets et exigences propres au sujet n°7.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658368"/>
          </a:xfrm>
          <a:prstGeom prst="rect">
            <a:avLst/>
          </a:prstGeom>
          <a:solidFill>
            <a:srgbClr val="F4F6F1"/>
          </a:solidFill>
          <a:ln w="12700">
            <a:solidFill>
              <a:srgbClr val="F4F6F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47088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691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complète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169164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haché, mot de passe oublié par jeton unique 1 h, réinitialisation, 2FA TOTP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515600" y="16916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450592"/>
            <a:ext cx="110944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060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24505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Utilisateurs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245059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réservé à l'administrateur, aucune inscription publique, désactivation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0" y="245059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3209544"/>
            <a:ext cx="11094415" cy="658368"/>
          </a:xfrm>
          <a:prstGeom prst="rect">
            <a:avLst/>
          </a:prstGeom>
          <a:solidFill>
            <a:srgbClr val="F4F6F1"/>
          </a:solidFill>
          <a:ln w="12700">
            <a:solidFill>
              <a:srgbClr val="F4F6F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36499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2095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métier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89120" y="320954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Sites, campagnes, suivis de croissance (+ essences, objectifs, finances)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0515600" y="320954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25 %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548640" y="3968496"/>
            <a:ext cx="110944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2394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96849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et filtres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389120" y="396849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site, essence, période, taux de survie, combinables (django-filter)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0515600" y="396849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48640" y="4727448"/>
            <a:ext cx="11094415" cy="658368"/>
          </a:xfrm>
          <a:prstGeom prst="rect">
            <a:avLst/>
          </a:prstGeom>
          <a:solidFill>
            <a:srgbClr val="F4F6F1"/>
          </a:solidFill>
          <a:ln w="12700">
            <a:solidFill>
              <a:srgbClr val="F4F6F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882896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472744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documentation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389120" y="4727448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couches, README, tests automatisés, jeu de démo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0515600" y="472744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10 %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548640" y="5486400"/>
            <a:ext cx="110944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641848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234440" y="54864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du sujet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4389120" y="548640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survie moyen par site calculé automatiquement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10515600" y="548640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trois niveaux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ne touche jamais la base : toutes les données passent par l'API.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15249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JavaFX 21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FXML + CSS JavaFX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java.net.http.HttpClient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(JSON)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 + Leaflet pour la carte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23360" y="3611880"/>
            <a:ext cx="320040" cy="411480"/>
          </a:xfrm>
          <a:prstGeom prst="rightArrow">
            <a:avLst/>
          </a:prstGeom>
          <a:solidFill>
            <a:srgbClr val="C99A1C"/>
          </a:solidFill>
          <a:ln w="12700">
            <a:solidFill>
              <a:srgbClr val="C99A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178308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1F5136"/>
          </a:solidFill>
          <a:ln w="12700">
            <a:solidFill>
              <a:srgbClr val="1F51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011680"/>
            <a:ext cx="640080" cy="640080"/>
          </a:xfrm>
          <a:prstGeom prst="ellipse">
            <a:avLst/>
          </a:prstGeom>
          <a:solidFill>
            <a:srgbClr val="C99A1C"/>
          </a:solidFill>
          <a:ln w="12700">
            <a:solidFill>
              <a:srgbClr val="C99A1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258" y="215249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Django REST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3375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 (JWT) + pyotp (2FA)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django-filter (filtres)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: 4 rôles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/ openpyxl (exports)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4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(prédiction)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863840" y="3611880"/>
            <a:ext cx="320040" cy="411480"/>
          </a:xfrm>
          <a:prstGeom prst="rightArrow">
            <a:avLst/>
          </a:prstGeom>
          <a:solidFill>
            <a:srgbClr val="C99A1C"/>
          </a:solidFill>
          <a:ln w="12700">
            <a:solidFill>
              <a:srgbClr val="C99A1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0" y="178308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03920" y="2011680"/>
            <a:ext cx="640080" cy="64008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738" y="215249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0392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données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33375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Django uniquement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(cible)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en développement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versionnées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035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HTTP(S) + JSON · jeton JWT dans l'en-tête Authorization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de données et défi du sujet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→ Campagne → Suivi : le taux de survie remonte automatiquement jusqu'au site.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 w="15875">
            <a:solidFill>
              <a:srgbClr val="1F51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 reboisement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localité, province, superficie, statut, coordonnées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2860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 w="15875">
            <a:solidFill>
              <a:srgbClr val="1F51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de plantation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317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site, essence, date, nombre de plants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2860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017520" cy="1417320"/>
          </a:xfrm>
          <a:prstGeom prst="roundRect">
            <a:avLst>
              <a:gd name="adj" fmla="val 5161"/>
            </a:avLst>
          </a:prstGeom>
          <a:solidFill>
            <a:srgbClr val="F4F6F1"/>
          </a:solidFill>
          <a:ln w="15875">
            <a:solidFill>
              <a:srgbClr val="1F51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1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croissance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3317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campagne, date du contrôle, taux de survie (%)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669280" cy="2514600"/>
          </a:xfrm>
          <a:prstGeom prst="roundRect">
            <a:avLst>
              <a:gd name="adj" fmla="val 2909"/>
            </a:avLst>
          </a:prstGeom>
          <a:solidFill>
            <a:srgbClr val="12281B"/>
          </a:solidFill>
          <a:ln w="12700">
            <a:solidFill>
              <a:srgbClr val="1228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03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taux de survie moyen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062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F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SuiviCroissance.objects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F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.filter(campagne__site=site)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F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.aggregate(moyenne=Avg('taux_survie'))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49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requête SQL (AVG avec jointure), recalculée à chaque lecture : jamais de valeur périmée.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61188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complémentaires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Essence (référentiel des espèces)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reboisement (national, province, site)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Partenaire, Financement, Budget de campagne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de suivi, Notification, Journal d'audit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(rôle), Jeton de réinitialisation, Appareil TOTP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: authentification et rôles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 la plus lourde de la grille (30 %) : chaque étape est vérifiée côté serveur.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C99A1C"/>
          </a:solidFill>
          <a:ln w="12700">
            <a:solidFill>
              <a:srgbClr val="C99A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6654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+ mot de passe haché (PBKDF2). Jeton JWT d'accès + jeton de rafraîchissement.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502920" cy="502920"/>
          </a:xfrm>
          <a:prstGeom prst="ellipse">
            <a:avLst/>
          </a:prstGeom>
          <a:solidFill>
            <a:srgbClr val="C99A1C"/>
          </a:solidFill>
          <a:ln w="12700">
            <a:solidFill>
              <a:srgbClr val="C99A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797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authentification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455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activée : jeton temporaire, puis code TOTP à 6 chiffres (Google/Microsoft Authenticator).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502920" cy="502920"/>
          </a:xfrm>
          <a:prstGeom prst="ellipse">
            <a:avLst/>
          </a:prstGeom>
          <a:solidFill>
            <a:srgbClr val="C99A1C"/>
          </a:solidFill>
          <a:ln w="12700">
            <a:solidFill>
              <a:srgbClr val="C99A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58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245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Jeton aléatoire à usage unique, expirant en 1 h, envoyé par e-mail puis invalidé.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502920" cy="502920"/>
          </a:xfrm>
          <a:prstGeom prst="ellipse">
            <a:avLst/>
          </a:prstGeom>
          <a:solidFill>
            <a:srgbClr val="C99A1C"/>
          </a:solidFill>
          <a:ln w="12700">
            <a:solidFill>
              <a:srgbClr val="C99A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74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37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(RBAC)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303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SUPERVISEUR, AGENT, FINANCIER : matrice de permissions appliquée par l'API.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35624" y="1700784"/>
            <a:ext cx="5513832" cy="336579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0" descr="C:\Users\DELL LATITUDE 7530\Documents\iai-gabon\ING2\JavaFx\frontendauthfx\docs\soutenance\captures\verification-2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737360"/>
            <a:ext cx="5440680" cy="329264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172200" y="51206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de vérification 2FA du client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tableau de bord : l'essentiel en un écran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bloc répond à une question de décideur et mène au détail.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7296912" cy="44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DELL LATITUDE 7530\Documents\iai-gabon\ING2\JavaFx\frontendauthfx\docs\soutenance\captures\tableau-de-b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3717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0" y="1691640"/>
            <a:ext cx="457200" cy="45720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744" y="1792224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32520" y="1645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Arbres plantés, surface, survie, contrôles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138160" y="2560320"/>
            <a:ext cx="457200" cy="45720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44" y="26609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3252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des provinces colorée par taux de survie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138160" y="3429000"/>
            <a:ext cx="457200" cy="45720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352958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732520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: survie critique, contrôles en retard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8138160" y="4297680"/>
            <a:ext cx="457200" cy="45720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4" y="43982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732520" y="4251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Plantations mensuelles, rythme mois / année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8138160" y="5166360"/>
            <a:ext cx="457200" cy="45720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4" y="526694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732520" y="5120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synthèse PDF, export direct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 du territoire et fiche de site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sur un site : son étiquette, sa survie, son score écologique, ses campagnes.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7662672" cy="4666249"/>
          </a:xfrm>
          <a:prstGeom prst="rect">
            <a:avLst/>
          </a:prstGeom>
          <a:solidFill>
            <a:srgbClr val="FFFFFF"/>
          </a:solidFill>
          <a:ln w="9525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DELL LATITUDE 7530\Documents\iai-gabon\ING2\JavaFx\frontendauthfx\docs\soutenance\captures\carte-fiche-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589520" cy="459309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0" y="1691640"/>
            <a:ext cx="3246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placés sur leur localité réelle, contrôlés à l'intérieur de leur province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du point : superficie. Couleur : statut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 colorées selon la survie moyenne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topographique, satellite ou épuré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écologique expliqué : survie, régularité, diversité, vitalité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CRUD, recherche et filtres combinables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paginée, formulaire validé, modification pré-remplie, suppression confirmée.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5559552" cy="3393463"/>
          </a:xfrm>
          <a:prstGeom prst="rect">
            <a:avLst/>
          </a:prstGeom>
          <a:solidFill>
            <a:srgbClr val="FFFFFF"/>
          </a:solidFill>
          <a:ln w="9525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DELL LATITUDE 7530\Documents\iai-gabon\ING2\JavaFx\frontendauthfx\docs\soutenance\captures\campag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33203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35624" y="1563624"/>
            <a:ext cx="5559552" cy="3393463"/>
          </a:xfrm>
          <a:prstGeom prst="rect">
            <a:avLst/>
          </a:prstGeom>
          <a:solidFill>
            <a:srgbClr val="FFFFFF"/>
          </a:solidFill>
          <a:ln w="9525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C:\Users\DELL LATITUDE 7530\Documents\iai-gabon\ING2\JavaFx\frontendauthfx\docs\soutenance\captures\si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486400" cy="332031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240551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du sujet : </a:t>
            </a:r>
            <a:pPr indent="0" marL="0">
              <a:buNone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site · par essence · par période (du … au …) · par taux de survie minimal — combinables, traités par django-filter.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697751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 des sites et des campagnes directement sur leur page.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Herbier des essences et intelligence écologique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chaque espèce donne sur le terrain, et une estimation avant de planter.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5559552" cy="3393463"/>
          </a:xfrm>
          <a:prstGeom prst="rect">
            <a:avLst/>
          </a:prstGeom>
          <a:solidFill>
            <a:srgbClr val="FFFFFF"/>
          </a:solidFill>
          <a:ln w="9525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DELL LATITUDE 7530\Documents\iai-gabon\ING2\JavaFx\frontendauthfx\docs\soutenance\captures\ess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33203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35624" y="1563624"/>
            <a:ext cx="5559552" cy="3393463"/>
          </a:xfrm>
          <a:prstGeom prst="rect">
            <a:avLst/>
          </a:prstGeom>
          <a:solidFill>
            <a:srgbClr val="FFFFFF"/>
          </a:solidFill>
          <a:ln w="9525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C:\Users\DELL LATITUDE 7530\Documents\iai-gabon\ING2\JavaFx\frontendauthfx\docs\soutenance\captures\intellig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486400" cy="332031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12064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RandomForest (scikit-learn) entraîné sur l'historique des suivis : survie prédite, essences recommandées par province, campagnes à risque.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Finances, exports et traçabilité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export est sur la page qui le concerne.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12064" y="1563624"/>
            <a:ext cx="5559552" cy="3393463"/>
          </a:xfrm>
          <a:prstGeom prst="rect">
            <a:avLst/>
          </a:prstGeom>
          <a:solidFill>
            <a:srgbClr val="FFFFFF"/>
          </a:solidFill>
          <a:ln w="9525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:\Users\DELL LATITUDE 7530\Documents\iai-gabon\ING2\JavaFx\frontendauthfx\docs\soutenance\captures\fina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33203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F8E3DE"/>
          </a:solidFill>
          <a:ln w="12700">
            <a:solidFill>
              <a:srgbClr val="F8E3D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42" y="1802282"/>
            <a:ext cx="281635" cy="28163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040880" y="1664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synthèse PDF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040880" y="1984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0" y="2606040"/>
            <a:ext cx="502920" cy="502920"/>
          </a:xfrm>
          <a:prstGeom prst="ellipse">
            <a:avLst/>
          </a:prstGeom>
          <a:solidFill>
            <a:srgbClr val="F8E3DE"/>
          </a:solidFill>
          <a:ln w="12700">
            <a:solidFill>
              <a:srgbClr val="F8E3D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42" y="271668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2578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financier PDF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7040880" y="2898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0" y="3520440"/>
            <a:ext cx="502920" cy="50292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42" y="3631082"/>
            <a:ext cx="281635" cy="28163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3493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Sites, campagnes, financements Excel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040880" y="3813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concernées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400800" y="4434840"/>
            <a:ext cx="502920" cy="50292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442" y="4545482"/>
            <a:ext cx="281635" cy="28163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040880" y="4407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d'activité CSV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7040880" y="4727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6400800" y="5440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création, modification, suppression et connexion est tracée dans le journal d'audit.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utilise l'application 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menus et les boutons s'adaptent au rôle ; l'API applique les mêmes règles.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6642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02082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les comptes, voit tout, consulte le journal d'audit.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548640" cy="54864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836469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6883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0449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et modifie sites, campagnes, suivis, objectifs.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739896"/>
            <a:ext cx="548640" cy="54864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860597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7124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 terrain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40690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Saisit campagnes et contrôles ; ne supprime rien, ne voit pas les finances.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48640" cy="548640"/>
          </a:xfrm>
          <a:prstGeom prst="ellipse">
            <a:avLst/>
          </a:prstGeom>
          <a:solidFill>
            <a:srgbClr val="E4EFDE"/>
          </a:solidFill>
          <a:ln w="12700">
            <a:solidFill>
              <a:srgbClr val="E4EFD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884725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736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50932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partenaires, financements et budgets ; consulte le terrain.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135624" y="1655064"/>
            <a:ext cx="5513832" cy="336579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D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C:\Users\DELL LATITUDE 7530\Documents\iai-gabon\ING2\JavaFx\frontendauthfx\docs\soutenance\captures\agent-tableau-de-bo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691640"/>
            <a:ext cx="5440680" cy="32926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172200" y="50749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d'un agent de terrain : ni Finances ni Administration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: ce qui a été testé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niveaux de tests, du serveur jusqu'à l'interface réelle.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6F1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51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18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Django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authentification, filtres, calcul de survie, confirmation, rôles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6F1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51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/ 100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vérifications de bout en bout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endpoints, 2FA avec vrai code TOTP, réinitialisation, exports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4F6F1"/>
          </a:solidFill>
          <a:ln w="12700">
            <a:solidFill>
              <a:srgbClr val="DDE3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51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piloté dans le client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connexion, création site → campagne → suivi, carte, suppression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 trouvés et corrigés grâce aux tests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8056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des rôles neutralisée par une redéclaration des permissions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Totaux par province et par essence gonflés par les jointures (×4)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du classement des sites renvoyant un mauvais format (PDF en erreur)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6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avec espaces ou accents non encodées dans l'URL ; objectif « site » sans site accepté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99713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ReboisGabon ·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et perspectives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niveaux, l'authentification complète, le CRUD et les 4 filtres du sujet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survie moyen par site calculé et visible sur la carte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pilotage lisible par un décideur, testé de bout en bout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4630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9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Ensuite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définitive sur PostgreSQL et déploiement HTTPS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terrain hors ligne (mobile) avec synchronisation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4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Contours réels des parcelles (polygones) et imagerie satellite datée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25196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1F5136"/>
          </a:solidFill>
          <a:ln w="12700">
            <a:solidFill>
              <a:srgbClr val="1F513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177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en direct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4937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2FA → tableau de bord → carte et fiche → nouveau suivi → filtres → export PDF → vue agent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ReboisGabon — Soutenance du TP n°7</dc:title>
  <dc:subject>PptxGenJS Presentation</dc:subject>
  <dc:creator>DOUTHE Thierno David</dc:creator>
  <cp:lastModifiedBy>DOUTHE Thierno David</cp:lastModifiedBy>
  <cp:revision>1</cp:revision>
  <dcterms:created xsi:type="dcterms:W3CDTF">2026-09-24T08:50:24Z</dcterms:created>
  <dcterms:modified xsi:type="dcterms:W3CDTF">2026-09-24T08:50:24Z</dcterms:modified>
</cp:coreProperties>
</file>